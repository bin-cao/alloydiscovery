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125999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74"/>
    <p:restoredTop sz="94551"/>
  </p:normalViewPr>
  <p:slideViewPr>
    <p:cSldViewPr snapToGrid="0" showGuides="1">
      <p:cViewPr varScale="1">
        <p:scale>
          <a:sx n="100" d="100"/>
          <a:sy n="100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CD80B-C9E1-F545-B0B0-CB66DA98DE51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143000"/>
            <a:ext cx="566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2B28E-B6FB-0742-9B1B-8960D1E8D41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146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2B28E-B6FB-0742-9B1B-8960D1E8D414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366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122363"/>
            <a:ext cx="94499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602038"/>
            <a:ext cx="94499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862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9288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709739"/>
            <a:ext cx="108674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589464"/>
            <a:ext cx="108674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4896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4604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65126"/>
            <a:ext cx="1086749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681163"/>
            <a:ext cx="53303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505075"/>
            <a:ext cx="53303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681163"/>
            <a:ext cx="53566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505075"/>
            <a:ext cx="535663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522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4549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338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87426"/>
            <a:ext cx="637874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924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87426"/>
            <a:ext cx="637874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043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818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65125"/>
            <a:ext cx="271687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65125"/>
            <a:ext cx="799311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493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65126"/>
            <a:ext cx="108674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825625"/>
            <a:ext cx="108674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0F7BF-4A78-BD43-A39C-C4EC9760054B}" type="datetimeFigureOut">
              <a:rPr lang="en-CN" smtClean="0"/>
              <a:t>2026/6/23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356351"/>
            <a:ext cx="4252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33311-5E76-794C-8D0C-67D9D3E02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448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CD59898-94CC-DC60-531F-078325C43316}"/>
              </a:ext>
            </a:extLst>
          </p:cNvPr>
          <p:cNvGrpSpPr/>
          <p:nvPr/>
        </p:nvGrpSpPr>
        <p:grpSpPr>
          <a:xfrm>
            <a:off x="-66290" y="209098"/>
            <a:ext cx="12732567" cy="5406404"/>
            <a:chOff x="-66290" y="209098"/>
            <a:chExt cx="12732567" cy="5406404"/>
          </a:xfrm>
        </p:grpSpPr>
        <p:sp>
          <p:nvSpPr>
            <p:cNvPr id="116" name="Google Shape;3248;p52">
              <a:extLst>
                <a:ext uri="{FF2B5EF4-FFF2-40B4-BE49-F238E27FC236}">
                  <a16:creationId xmlns:a16="http://schemas.microsoft.com/office/drawing/2014/main" id="{A4548DCC-B714-D8D4-D91A-2578489E0100}"/>
                </a:ext>
              </a:extLst>
            </p:cNvPr>
            <p:cNvSpPr/>
            <p:nvPr/>
          </p:nvSpPr>
          <p:spPr>
            <a:xfrm>
              <a:off x="7105746" y="1595081"/>
              <a:ext cx="3805538" cy="4006314"/>
            </a:xfrm>
            <a:prstGeom prst="roundRect">
              <a:avLst>
                <a:gd name="adj" fmla="val 1109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US" altLang="zh-CN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FEFF5F1-BC5C-15CC-9300-9DB4630446B3}"/>
                </a:ext>
              </a:extLst>
            </p:cNvPr>
            <p:cNvGrpSpPr/>
            <p:nvPr/>
          </p:nvGrpSpPr>
          <p:grpSpPr>
            <a:xfrm>
              <a:off x="297253" y="3168420"/>
              <a:ext cx="4385341" cy="1141555"/>
              <a:chOff x="315742" y="4312739"/>
              <a:chExt cx="4385341" cy="1141555"/>
            </a:xfrm>
          </p:grpSpPr>
          <p:sp>
            <p:nvSpPr>
              <p:cNvPr id="4" name="Google Shape;3248;p52">
                <a:extLst>
                  <a:ext uri="{FF2B5EF4-FFF2-40B4-BE49-F238E27FC236}">
                    <a16:creationId xmlns:a16="http://schemas.microsoft.com/office/drawing/2014/main" id="{45C7CFC8-44F8-CE88-CF8A-D4B69893710C}"/>
                  </a:ext>
                </a:extLst>
              </p:cNvPr>
              <p:cNvSpPr/>
              <p:nvPr/>
            </p:nvSpPr>
            <p:spPr>
              <a:xfrm>
                <a:off x="315742" y="4312739"/>
                <a:ext cx="4071938" cy="1141555"/>
              </a:xfrm>
              <a:prstGeom prst="roundRect">
                <a:avLst>
                  <a:gd name="adj" fmla="val 1109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3D0F2B8-9F22-3F81-09F0-CCF444CE6449}"/>
                      </a:ext>
                    </a:extLst>
                  </p:cNvPr>
                  <p:cNvSpPr txBox="1"/>
                  <p:nvPr/>
                </p:nvSpPr>
                <p:spPr>
                  <a:xfrm>
                    <a:off x="430636" y="4575521"/>
                    <a:ext cx="2394943" cy="66999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Composition</a:t>
                    </a:r>
                    <a:r>
                      <a: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14:m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8</m:t>
                            </m:r>
                          </m:sup>
                        </m:sSup>
                      </m:oMath>
                    </a14:m>
                    <a:endPara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(a</a:t>
                    </a:r>
                    <a:r>
                      <a:rPr lang="en-CN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tomic</a:t>
                    </a:r>
                    <a:r>
                      <a: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fractions)</a:t>
                    </a:r>
                  </a:p>
                </p:txBody>
              </p:sp>
            </mc:Choice>
            <mc:Fallback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3D0F2B8-9F22-3F81-09F0-CCF444CE6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0636" y="4575521"/>
                    <a:ext cx="2394943" cy="66999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5556"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Trapezoid 8">
                <a:extLst>
                  <a:ext uri="{FF2B5EF4-FFF2-40B4-BE49-F238E27FC236}">
                    <a16:creationId xmlns:a16="http://schemas.microsoft.com/office/drawing/2014/main" id="{5445DC79-E9EF-7E9E-02D2-1E40F1F9845B}"/>
                  </a:ext>
                </a:extLst>
              </p:cNvPr>
              <p:cNvSpPr/>
              <p:nvPr/>
            </p:nvSpPr>
            <p:spPr>
              <a:xfrm rot="5400000">
                <a:off x="3010692" y="4484616"/>
                <a:ext cx="985837" cy="792961"/>
              </a:xfrm>
              <a:prstGeom prst="trapezoid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E598B2-9F65-815A-AA03-2A110CE2949C}"/>
                  </a:ext>
                </a:extLst>
              </p:cNvPr>
              <p:cNvSpPr txBox="1"/>
              <p:nvPr/>
            </p:nvSpPr>
            <p:spPr>
              <a:xfrm>
                <a:off x="2306140" y="4524630"/>
                <a:ext cx="239494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(comp)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942F934-6A6C-1B0D-0776-FB5F6D5685A1}"/>
                  </a:ext>
                </a:extLst>
              </p:cNvPr>
              <p:cNvCxnSpPr/>
              <p:nvPr/>
            </p:nvCxnSpPr>
            <p:spPr>
              <a:xfrm>
                <a:off x="2619541" y="4898686"/>
                <a:ext cx="487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FFF1F5C-E1E2-8DC9-A82E-DDBC761DEBF5}"/>
                </a:ext>
              </a:extLst>
            </p:cNvPr>
            <p:cNvGrpSpPr/>
            <p:nvPr/>
          </p:nvGrpSpPr>
          <p:grpSpPr>
            <a:xfrm>
              <a:off x="225247" y="1593237"/>
              <a:ext cx="4457346" cy="1417604"/>
              <a:chOff x="219460" y="2736805"/>
              <a:chExt cx="4457346" cy="1417604"/>
            </a:xfrm>
          </p:grpSpPr>
          <p:sp>
            <p:nvSpPr>
              <p:cNvPr id="15" name="Google Shape;3248;p52">
                <a:extLst>
                  <a:ext uri="{FF2B5EF4-FFF2-40B4-BE49-F238E27FC236}">
                    <a16:creationId xmlns:a16="http://schemas.microsoft.com/office/drawing/2014/main" id="{6AF204B2-9D79-0635-A5C9-4E19FA1933ED}"/>
                  </a:ext>
                </a:extLst>
              </p:cNvPr>
              <p:cNvSpPr/>
              <p:nvPr/>
            </p:nvSpPr>
            <p:spPr>
              <a:xfrm>
                <a:off x="291465" y="2736805"/>
                <a:ext cx="4071938" cy="1417604"/>
              </a:xfrm>
              <a:prstGeom prst="roundRect">
                <a:avLst>
                  <a:gd name="adj" fmla="val 1109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BA208B-6A13-0970-894E-0C65EAEDA0C5}"/>
                  </a:ext>
                </a:extLst>
              </p:cNvPr>
              <p:cNvSpPr txBox="1"/>
              <p:nvPr/>
            </p:nvSpPr>
            <p:spPr>
              <a:xfrm>
                <a:off x="219460" y="3167032"/>
                <a:ext cx="139594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Processing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7" name="Trapezoid 16">
                <a:extLst>
                  <a:ext uri="{FF2B5EF4-FFF2-40B4-BE49-F238E27FC236}">
                    <a16:creationId xmlns:a16="http://schemas.microsoft.com/office/drawing/2014/main" id="{62CE3DA1-C013-D03B-FC94-963552FD180D}"/>
                  </a:ext>
                </a:extLst>
              </p:cNvPr>
              <p:cNvSpPr/>
              <p:nvPr/>
            </p:nvSpPr>
            <p:spPr>
              <a:xfrm rot="5400000">
                <a:off x="2986415" y="3076128"/>
                <a:ext cx="985837" cy="792961"/>
              </a:xfrm>
              <a:prstGeom prst="trapezoid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86BDCD9-5508-78D9-3C69-17BBF1068FDB}"/>
                  </a:ext>
                </a:extLst>
              </p:cNvPr>
              <p:cNvSpPr txBox="1"/>
              <p:nvPr/>
            </p:nvSpPr>
            <p:spPr>
              <a:xfrm>
                <a:off x="2281863" y="3116142"/>
                <a:ext cx="239494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(proc)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1" name="Elbow Connector 20">
                <a:extLst>
                  <a:ext uri="{FF2B5EF4-FFF2-40B4-BE49-F238E27FC236}">
                    <a16:creationId xmlns:a16="http://schemas.microsoft.com/office/drawing/2014/main" id="{C6D24285-4090-A65A-BE98-CA8B08A5C9B5}"/>
                  </a:ext>
                </a:extLst>
              </p:cNvPr>
              <p:cNvCxnSpPr>
                <a:cxnSpLocks/>
                <a:stCxn id="16" idx="3"/>
              </p:cNvCxnSpPr>
              <p:nvPr/>
            </p:nvCxnSpPr>
            <p:spPr>
              <a:xfrm flipV="1">
                <a:off x="1615404" y="3207404"/>
                <a:ext cx="170625" cy="282794"/>
              </a:xfrm>
              <a:prstGeom prst="bentConnector3">
                <a:avLst>
                  <a:gd name="adj1" fmla="val -241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4E8D7A4-6EEC-0B39-6320-9A52C8777CAF}"/>
                  </a:ext>
                </a:extLst>
              </p:cNvPr>
              <p:cNvSpPr/>
              <p:nvPr/>
            </p:nvSpPr>
            <p:spPr>
              <a:xfrm>
                <a:off x="1799195" y="3068904"/>
                <a:ext cx="859832" cy="2668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B03C9242-BF18-7226-B3F1-27D1946E6C5D}"/>
                  </a:ext>
                </a:extLst>
              </p:cNvPr>
              <p:cNvCxnSpPr>
                <a:cxnSpLocks/>
                <a:stCxn id="16" idx="3"/>
              </p:cNvCxnSpPr>
              <p:nvPr/>
            </p:nvCxnSpPr>
            <p:spPr>
              <a:xfrm>
                <a:off x="1615404" y="3490198"/>
                <a:ext cx="140927" cy="235557"/>
              </a:xfrm>
              <a:prstGeom prst="bentConnector3">
                <a:avLst>
                  <a:gd name="adj1" fmla="val -69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A7405A7-5ED9-0BEA-49D3-0A89178C6EE9}"/>
                  </a:ext>
                </a:extLst>
              </p:cNvPr>
              <p:cNvSpPr txBox="1"/>
              <p:nvPr/>
            </p:nvSpPr>
            <p:spPr>
              <a:xfrm>
                <a:off x="1739862" y="3061622"/>
                <a:ext cx="97849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Embedding</a:t>
                </a: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B90AB03-5F1F-C240-8BE2-928E5AB52F74}"/>
                  </a:ext>
                </a:extLst>
              </p:cNvPr>
              <p:cNvCxnSpPr>
                <a:endCxn id="16" idx="3"/>
              </p:cNvCxnSpPr>
              <p:nvPr/>
            </p:nvCxnSpPr>
            <p:spPr>
              <a:xfrm>
                <a:off x="1491222" y="3490197"/>
                <a:ext cx="124182" cy="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D95438-AAA3-51C0-6CF2-8EFB61AD3727}"/>
                  </a:ext>
                </a:extLst>
              </p:cNvPr>
              <p:cNvSpPr txBox="1"/>
              <p:nvPr/>
            </p:nvSpPr>
            <p:spPr>
              <a:xfrm>
                <a:off x="1739586" y="3571280"/>
                <a:ext cx="97849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29A0D7C-EE94-30FC-3C5A-E701DA454CC2}"/>
                  </a:ext>
                </a:extLst>
              </p:cNvPr>
              <p:cNvSpPr txBox="1"/>
              <p:nvPr/>
            </p:nvSpPr>
            <p:spPr>
              <a:xfrm>
                <a:off x="1977119" y="3739477"/>
                <a:ext cx="56197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sz="14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</a:t>
                </a:r>
                <a:endPara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0B5C4B-F93F-CBEA-1161-702B48C8734B}"/>
                  </a:ext>
                </a:extLst>
              </p:cNvPr>
              <p:cNvSpPr txBox="1"/>
              <p:nvPr/>
            </p:nvSpPr>
            <p:spPr>
              <a:xfrm>
                <a:off x="2378037" y="2770059"/>
                <a:ext cx="56197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sz="14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</a:t>
                </a:r>
                <a:endPara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C7D4BBE-EDA1-3CF6-88EC-DE4AAA87A6C8}"/>
                  </a:ext>
                </a:extLst>
              </p:cNvPr>
              <p:cNvSpPr txBox="1"/>
              <p:nvPr/>
            </p:nvSpPr>
            <p:spPr>
              <a:xfrm>
                <a:off x="1584354" y="2785408"/>
                <a:ext cx="97849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Categorical </a:t>
                </a:r>
              </a:p>
            </p:txBody>
          </p:sp>
          <p:cxnSp>
            <p:nvCxnSpPr>
              <p:cNvPr id="65" name="Elbow Connector 64">
                <a:extLst>
                  <a:ext uri="{FF2B5EF4-FFF2-40B4-BE49-F238E27FC236}">
                    <a16:creationId xmlns:a16="http://schemas.microsoft.com/office/drawing/2014/main" id="{914AE8EB-A706-E19C-5D76-3492EBC9BD50}"/>
                  </a:ext>
                </a:extLst>
              </p:cNvPr>
              <p:cNvCxnSpPr>
                <a:stCxn id="56" idx="3"/>
              </p:cNvCxnSpPr>
              <p:nvPr/>
            </p:nvCxnSpPr>
            <p:spPr>
              <a:xfrm>
                <a:off x="2718360" y="3200122"/>
                <a:ext cx="364493" cy="281384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Elbow Connector 70">
                <a:extLst>
                  <a:ext uri="{FF2B5EF4-FFF2-40B4-BE49-F238E27FC236}">
                    <a16:creationId xmlns:a16="http://schemas.microsoft.com/office/drawing/2014/main" id="{729A53D2-69EF-74B5-4FA0-2718121201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6798" y="3474362"/>
                <a:ext cx="221932" cy="228274"/>
              </a:xfrm>
              <a:prstGeom prst="bentConnector2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66BBB3B-13A6-C099-1959-EEE754D36507}"/>
                </a:ext>
              </a:extLst>
            </p:cNvPr>
            <p:cNvGrpSpPr/>
            <p:nvPr/>
          </p:nvGrpSpPr>
          <p:grpSpPr>
            <a:xfrm>
              <a:off x="297253" y="4473947"/>
              <a:ext cx="4385341" cy="1141555"/>
              <a:chOff x="291465" y="1458309"/>
              <a:chExt cx="4385341" cy="1141555"/>
            </a:xfrm>
          </p:grpSpPr>
          <p:sp>
            <p:nvSpPr>
              <p:cNvPr id="72" name="Google Shape;3248;p52">
                <a:extLst>
                  <a:ext uri="{FF2B5EF4-FFF2-40B4-BE49-F238E27FC236}">
                    <a16:creationId xmlns:a16="http://schemas.microsoft.com/office/drawing/2014/main" id="{0F3035C2-C47A-AC76-2363-8EBC51EF4230}"/>
                  </a:ext>
                </a:extLst>
              </p:cNvPr>
              <p:cNvSpPr/>
              <p:nvPr/>
            </p:nvSpPr>
            <p:spPr>
              <a:xfrm>
                <a:off x="291465" y="1458309"/>
                <a:ext cx="4071938" cy="1141555"/>
              </a:xfrm>
              <a:prstGeom prst="roundRect">
                <a:avLst>
                  <a:gd name="adj" fmla="val 1109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CD02AC-C3DF-4221-F174-61CD0EF992CB}"/>
                  </a:ext>
                </a:extLst>
              </p:cNvPr>
              <p:cNvSpPr txBox="1"/>
              <p:nvPr/>
            </p:nvSpPr>
            <p:spPr>
              <a:xfrm>
                <a:off x="406359" y="1721091"/>
                <a:ext cx="239494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Testing Conditions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  <a:p>
                <a:pPr algn="ctr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(strain rate, temp)</a:t>
                </a:r>
              </a:p>
            </p:txBody>
          </p:sp>
          <p:sp>
            <p:nvSpPr>
              <p:cNvPr id="74" name="Trapezoid 73">
                <a:extLst>
                  <a:ext uri="{FF2B5EF4-FFF2-40B4-BE49-F238E27FC236}">
                    <a16:creationId xmlns:a16="http://schemas.microsoft.com/office/drawing/2014/main" id="{001ED09E-6F36-3B44-B108-FF489BEBDF30}"/>
                  </a:ext>
                </a:extLst>
              </p:cNvPr>
              <p:cNvSpPr/>
              <p:nvPr/>
            </p:nvSpPr>
            <p:spPr>
              <a:xfrm rot="5400000">
                <a:off x="2986415" y="1630186"/>
                <a:ext cx="985837" cy="792961"/>
              </a:xfrm>
              <a:prstGeom prst="trapezoid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37B51E7-14E8-C473-C472-E505A704F707}"/>
                  </a:ext>
                </a:extLst>
              </p:cNvPr>
              <p:cNvSpPr txBox="1"/>
              <p:nvPr/>
            </p:nvSpPr>
            <p:spPr>
              <a:xfrm>
                <a:off x="2281863" y="1670200"/>
                <a:ext cx="239494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(test)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688383C6-F9E9-1228-A99F-BB911F6C4D59}"/>
                  </a:ext>
                </a:extLst>
              </p:cNvPr>
              <p:cNvCxnSpPr/>
              <p:nvPr/>
            </p:nvCxnSpPr>
            <p:spPr>
              <a:xfrm>
                <a:off x="2595264" y="2044256"/>
                <a:ext cx="487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9" name="Google Shape;3248;p52">
              <a:extLst>
                <a:ext uri="{FF2B5EF4-FFF2-40B4-BE49-F238E27FC236}">
                  <a16:creationId xmlns:a16="http://schemas.microsoft.com/office/drawing/2014/main" id="{7E6F689D-8310-0737-4824-3BE42203CE06}"/>
                </a:ext>
              </a:extLst>
            </p:cNvPr>
            <p:cNvSpPr/>
            <p:nvPr/>
          </p:nvSpPr>
          <p:spPr>
            <a:xfrm>
              <a:off x="4512569" y="1595081"/>
              <a:ext cx="2460489" cy="4006314"/>
            </a:xfrm>
            <a:prstGeom prst="roundRect">
              <a:avLst>
                <a:gd name="adj" fmla="val 1109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40000"/>
                  <a:lumOff val="6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D5AE0ED-B10E-7D3D-8AE9-4441543B2000}"/>
                </a:ext>
              </a:extLst>
            </p:cNvPr>
            <p:cNvSpPr txBox="1"/>
            <p:nvPr/>
          </p:nvSpPr>
          <p:spPr>
            <a:xfrm>
              <a:off x="4624486" y="5218042"/>
              <a:ext cx="26124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ADAPTIVE GATING</a:t>
              </a:r>
              <a:endParaRPr lang="en-CN" dirty="0"/>
            </a:p>
          </p:txBody>
        </p:sp>
        <p:sp>
          <p:nvSpPr>
            <p:cNvPr id="82" name="Google Shape;3248;p52">
              <a:extLst>
                <a:ext uri="{FF2B5EF4-FFF2-40B4-BE49-F238E27FC236}">
                  <a16:creationId xmlns:a16="http://schemas.microsoft.com/office/drawing/2014/main" id="{6D68FEE3-A851-7BB8-DE11-8100C7A98F28}"/>
                </a:ext>
              </a:extLst>
            </p:cNvPr>
            <p:cNvSpPr/>
            <p:nvPr/>
          </p:nvSpPr>
          <p:spPr>
            <a:xfrm>
              <a:off x="4684463" y="2169985"/>
              <a:ext cx="1359364" cy="1347366"/>
            </a:xfrm>
            <a:prstGeom prst="roundRect">
              <a:avLst>
                <a:gd name="adj" fmla="val 1109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C5AA934D-9454-96CD-543B-BF28EDD7D105}"/>
                    </a:ext>
                  </a:extLst>
                </p:cNvPr>
                <p:cNvSpPr txBox="1"/>
                <p:nvPr/>
              </p:nvSpPr>
              <p:spPr>
                <a:xfrm>
                  <a:off x="4683918" y="2382671"/>
                  <a:ext cx="1300861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Gating </a:t>
                  </a:r>
                </a:p>
                <a:p>
                  <a:pPr algn="ctr"/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Network</a:t>
                  </a:r>
                </a:p>
                <a:p>
                  <a:pPr algn="ctr"/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(sigmoid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𝜎</m:t>
                      </m:r>
                    </m:oMath>
                  </a14:m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  <a:p>
                  <a:endParaRPr lang="en-CN" dirty="0"/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C5AA934D-9454-96CD-543B-BF28EDD7D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918" y="2382671"/>
                  <a:ext cx="1300861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3846" t="-2083" r="-961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椭圆 41">
              <a:extLst>
                <a:ext uri="{FF2B5EF4-FFF2-40B4-BE49-F238E27FC236}">
                  <a16:creationId xmlns:a16="http://schemas.microsoft.com/office/drawing/2014/main" id="{C8789A23-842B-1ADD-9902-42B76427DF68}"/>
                </a:ext>
              </a:extLst>
            </p:cNvPr>
            <p:cNvSpPr/>
            <p:nvPr/>
          </p:nvSpPr>
          <p:spPr>
            <a:xfrm>
              <a:off x="6110792" y="4572715"/>
              <a:ext cx="248797" cy="235261"/>
            </a:xfrm>
            <a:prstGeom prst="ellipse">
              <a:avLst/>
            </a:prstGeom>
            <a:solidFill>
              <a:srgbClr val="FCE5D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•</a:t>
              </a:r>
            </a:p>
          </p:txBody>
        </p:sp>
        <p:sp>
          <p:nvSpPr>
            <p:cNvPr id="114" name="椭圆 41">
              <a:extLst>
                <a:ext uri="{FF2B5EF4-FFF2-40B4-BE49-F238E27FC236}">
                  <a16:creationId xmlns:a16="http://schemas.microsoft.com/office/drawing/2014/main" id="{224B4675-0E09-9DF4-500E-09357FF76EB8}"/>
                </a:ext>
              </a:extLst>
            </p:cNvPr>
            <p:cNvSpPr/>
            <p:nvPr/>
          </p:nvSpPr>
          <p:spPr>
            <a:xfrm>
              <a:off x="7202537" y="3967682"/>
              <a:ext cx="248797" cy="23526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+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B64C68B0-39FA-B18F-3A3D-44827E0BE744}"/>
                </a:ext>
              </a:extLst>
            </p:cNvPr>
            <p:cNvGrpSpPr/>
            <p:nvPr/>
          </p:nvGrpSpPr>
          <p:grpSpPr>
            <a:xfrm>
              <a:off x="7715888" y="3452673"/>
              <a:ext cx="1005921" cy="1241410"/>
              <a:chOff x="8281025" y="2095905"/>
              <a:chExt cx="1005921" cy="1241410"/>
            </a:xfrm>
          </p:grpSpPr>
          <p:sp>
            <p:nvSpPr>
              <p:cNvPr id="117" name="Trapezoid 116">
                <a:extLst>
                  <a:ext uri="{FF2B5EF4-FFF2-40B4-BE49-F238E27FC236}">
                    <a16:creationId xmlns:a16="http://schemas.microsoft.com/office/drawing/2014/main" id="{F25793B0-3CBC-7F92-162F-2B9D398A258D}"/>
                  </a:ext>
                </a:extLst>
              </p:cNvPr>
              <p:cNvSpPr/>
              <p:nvPr/>
            </p:nvSpPr>
            <p:spPr>
              <a:xfrm rot="5400000">
                <a:off x="8175762" y="2286623"/>
                <a:ext cx="1241410" cy="859974"/>
              </a:xfrm>
              <a:prstGeom prst="trapezoid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11312BC-A1B5-5FFF-57B5-664173939E76}"/>
                  </a:ext>
                </a:extLst>
              </p:cNvPr>
              <p:cNvSpPr txBox="1"/>
              <p:nvPr/>
            </p:nvSpPr>
            <p:spPr>
              <a:xfrm>
                <a:off x="8281025" y="2256142"/>
                <a:ext cx="100592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(shared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fusion)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628E484-36BF-BBF3-EF4C-7799D961516A}"/>
                </a:ext>
              </a:extLst>
            </p:cNvPr>
            <p:cNvGrpSpPr/>
            <p:nvPr/>
          </p:nvGrpSpPr>
          <p:grpSpPr>
            <a:xfrm>
              <a:off x="8925157" y="4238855"/>
              <a:ext cx="1324845" cy="1241410"/>
              <a:chOff x="8613709" y="2087240"/>
              <a:chExt cx="1324845" cy="1241410"/>
            </a:xfrm>
          </p:grpSpPr>
          <p:sp>
            <p:nvSpPr>
              <p:cNvPr id="121" name="Trapezoid 120">
                <a:extLst>
                  <a:ext uri="{FF2B5EF4-FFF2-40B4-BE49-F238E27FC236}">
                    <a16:creationId xmlns:a16="http://schemas.microsoft.com/office/drawing/2014/main" id="{08447E9A-31E6-ADFC-8DC1-B7136098CD42}"/>
                  </a:ext>
                </a:extLst>
              </p:cNvPr>
              <p:cNvSpPr/>
              <p:nvPr/>
            </p:nvSpPr>
            <p:spPr>
              <a:xfrm rot="5400000">
                <a:off x="8664826" y="2109097"/>
                <a:ext cx="1241410" cy="1197696"/>
              </a:xfrm>
              <a:prstGeom prst="trapezoid">
                <a:avLst/>
              </a:prstGeom>
              <a:solidFill>
                <a:srgbClr val="00B0F0">
                  <a:alpha val="3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60B1B61E-BDE7-6D34-FA94-DDCA6FE2A4C4}"/>
                  </a:ext>
                </a:extLst>
              </p:cNvPr>
              <p:cNvSpPr txBox="1"/>
              <p:nvPr/>
            </p:nvSpPr>
            <p:spPr>
              <a:xfrm>
                <a:off x="8613709" y="2245374"/>
                <a:ext cx="132484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(elongation head)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E601458E-88BD-CE92-2CD4-FAB8F35A7B98}"/>
                </a:ext>
              </a:extLst>
            </p:cNvPr>
            <p:cNvGrpSpPr/>
            <p:nvPr/>
          </p:nvGrpSpPr>
          <p:grpSpPr>
            <a:xfrm>
              <a:off x="8937555" y="2481255"/>
              <a:ext cx="1324845" cy="1241410"/>
              <a:chOff x="8604310" y="1827076"/>
              <a:chExt cx="1324845" cy="1241410"/>
            </a:xfrm>
          </p:grpSpPr>
          <p:sp>
            <p:nvSpPr>
              <p:cNvPr id="124" name="Trapezoid 123">
                <a:extLst>
                  <a:ext uri="{FF2B5EF4-FFF2-40B4-BE49-F238E27FC236}">
                    <a16:creationId xmlns:a16="http://schemas.microsoft.com/office/drawing/2014/main" id="{2739D273-9F4F-0298-0103-72ECAF7395F4}"/>
                  </a:ext>
                </a:extLst>
              </p:cNvPr>
              <p:cNvSpPr/>
              <p:nvPr/>
            </p:nvSpPr>
            <p:spPr>
              <a:xfrm rot="5400000">
                <a:off x="8655427" y="1848933"/>
                <a:ext cx="1241410" cy="1197696"/>
              </a:xfrm>
              <a:prstGeom prst="trapezoid">
                <a:avLst/>
              </a:prstGeom>
              <a:solidFill>
                <a:srgbClr val="00B0F0">
                  <a:alpha val="3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E8E47E7-525C-2CC0-981F-2E3A11D732BE}"/>
                  </a:ext>
                </a:extLst>
              </p:cNvPr>
              <p:cNvSpPr txBox="1"/>
              <p:nvPr/>
            </p:nvSpPr>
            <p:spPr>
              <a:xfrm>
                <a:off x="8604310" y="1985210"/>
                <a:ext cx="132484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(strength head)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43" name="Elbow Connector 142">
              <a:extLst>
                <a:ext uri="{FF2B5EF4-FFF2-40B4-BE49-F238E27FC236}">
                  <a16:creationId xmlns:a16="http://schemas.microsoft.com/office/drawing/2014/main" id="{D6D5F5FD-EDB3-D838-6BA7-042DCE1F4AC0}"/>
                </a:ext>
              </a:extLst>
            </p:cNvPr>
            <p:cNvCxnSpPr>
              <a:cxnSpLocks/>
              <a:stCxn id="110" idx="6"/>
              <a:endCxn id="114" idx="2"/>
            </p:cNvCxnSpPr>
            <p:nvPr/>
          </p:nvCxnSpPr>
          <p:spPr>
            <a:xfrm flipV="1">
              <a:off x="6359588" y="4085313"/>
              <a:ext cx="842948" cy="605033"/>
            </a:xfrm>
            <a:prstGeom prst="bentConnector3">
              <a:avLst>
                <a:gd name="adj1" fmla="val 44576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Elbow Connector 6">
              <a:extLst>
                <a:ext uri="{FF2B5EF4-FFF2-40B4-BE49-F238E27FC236}">
                  <a16:creationId xmlns:a16="http://schemas.microsoft.com/office/drawing/2014/main" id="{11D521DE-A9CA-F43E-1D15-DB9778071B8B}"/>
                </a:ext>
              </a:extLst>
            </p:cNvPr>
            <p:cNvCxnSpPr>
              <a:cxnSpLocks/>
              <a:stCxn id="82" idx="3"/>
              <a:endCxn id="110" idx="0"/>
            </p:cNvCxnSpPr>
            <p:nvPr/>
          </p:nvCxnSpPr>
          <p:spPr>
            <a:xfrm>
              <a:off x="6043828" y="2843668"/>
              <a:ext cx="191363" cy="1729046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46E00CA8-4102-13EF-89BA-32BF5824ABE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711" y="2318789"/>
              <a:ext cx="807387" cy="57151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28235F05-EE75-9716-7C30-A66DD1C26739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>
              <a:off x="3881601" y="3740023"/>
              <a:ext cx="2229190" cy="95032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994B532B-A8D0-E9EB-C3A8-F4F36E761C0B}"/>
                </a:ext>
              </a:extLst>
            </p:cNvPr>
            <p:cNvCxnSpPr>
              <a:cxnSpLocks/>
              <a:endCxn id="114" idx="4"/>
            </p:cNvCxnSpPr>
            <p:nvPr/>
          </p:nvCxnSpPr>
          <p:spPr>
            <a:xfrm flipV="1">
              <a:off x="3881601" y="4202942"/>
              <a:ext cx="3445334" cy="847902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5ACBE04-A6E5-7236-BA91-480367974FBA}"/>
                </a:ext>
              </a:extLst>
            </p:cNvPr>
            <p:cNvCxnSpPr>
              <a:cxnSpLocks/>
            </p:cNvCxnSpPr>
            <p:nvPr/>
          </p:nvCxnSpPr>
          <p:spPr>
            <a:xfrm>
              <a:off x="7451334" y="4084779"/>
              <a:ext cx="334621" cy="5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Elbow Connector 67">
              <a:extLst>
                <a:ext uri="{FF2B5EF4-FFF2-40B4-BE49-F238E27FC236}">
                  <a16:creationId xmlns:a16="http://schemas.microsoft.com/office/drawing/2014/main" id="{25450620-CF31-F0D6-DF22-CEC5A294B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8422" y="3151288"/>
              <a:ext cx="352106" cy="91388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52507142-E2E5-0F2C-69D8-788EF3AF5EAD}"/>
                </a:ext>
              </a:extLst>
            </p:cNvPr>
            <p:cNvCxnSpPr>
              <a:cxnSpLocks/>
            </p:cNvCxnSpPr>
            <p:nvPr/>
          </p:nvCxnSpPr>
          <p:spPr>
            <a:xfrm>
              <a:off x="8658422" y="4065176"/>
              <a:ext cx="348234" cy="79347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6B48177-C776-ADF1-AE57-5C77B804A59E}"/>
                </a:ext>
              </a:extLst>
            </p:cNvPr>
            <p:cNvCxnSpPr>
              <a:cxnSpLocks/>
              <a:endCxn id="112" idx="1"/>
            </p:cNvCxnSpPr>
            <p:nvPr/>
          </p:nvCxnSpPr>
          <p:spPr>
            <a:xfrm>
              <a:off x="10200847" y="3109827"/>
              <a:ext cx="190697" cy="47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B72CA5D8-44AD-C2BB-B9B5-ACB7998FA1AE}"/>
                </a:ext>
              </a:extLst>
            </p:cNvPr>
            <p:cNvCxnSpPr>
              <a:cxnSpLocks/>
            </p:cNvCxnSpPr>
            <p:nvPr/>
          </p:nvCxnSpPr>
          <p:spPr>
            <a:xfrm>
              <a:off x="10191695" y="4858654"/>
              <a:ext cx="199716" cy="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Google Shape;3248;p52">
              <a:extLst>
                <a:ext uri="{FF2B5EF4-FFF2-40B4-BE49-F238E27FC236}">
                  <a16:creationId xmlns:a16="http://schemas.microsoft.com/office/drawing/2014/main" id="{5CC2A268-0E05-A615-877B-D5F67C6FED09}"/>
                </a:ext>
              </a:extLst>
            </p:cNvPr>
            <p:cNvSpPr/>
            <p:nvPr/>
          </p:nvSpPr>
          <p:spPr>
            <a:xfrm>
              <a:off x="11107902" y="3168420"/>
              <a:ext cx="1259965" cy="1474947"/>
            </a:xfrm>
            <a:prstGeom prst="roundRect">
              <a:avLst>
                <a:gd name="adj" fmla="val 1109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US" altLang="zh-CN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dirty="0"/>
            </a:p>
          </p:txBody>
        </p:sp>
        <p:cxnSp>
          <p:nvCxnSpPr>
            <p:cNvPr id="96" name="Elbow Connector 95">
              <a:extLst>
                <a:ext uri="{FF2B5EF4-FFF2-40B4-BE49-F238E27FC236}">
                  <a16:creationId xmlns:a16="http://schemas.microsoft.com/office/drawing/2014/main" id="{E04203EB-9A58-9484-A3BD-7D4CE8030D57}"/>
                </a:ext>
              </a:extLst>
            </p:cNvPr>
            <p:cNvCxnSpPr>
              <a:cxnSpLocks/>
              <a:endCxn id="94" idx="1"/>
            </p:cNvCxnSpPr>
            <p:nvPr/>
          </p:nvCxnSpPr>
          <p:spPr>
            <a:xfrm>
              <a:off x="10837737" y="3094139"/>
              <a:ext cx="270165" cy="81175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Elbow Connector 98">
              <a:extLst>
                <a:ext uri="{FF2B5EF4-FFF2-40B4-BE49-F238E27FC236}">
                  <a16:creationId xmlns:a16="http://schemas.microsoft.com/office/drawing/2014/main" id="{9AB5FE52-3B5E-62DA-7D4E-9CCA698F1F6A}"/>
                </a:ext>
              </a:extLst>
            </p:cNvPr>
            <p:cNvCxnSpPr>
              <a:cxnSpLocks/>
              <a:endCxn id="94" idx="1"/>
            </p:cNvCxnSpPr>
            <p:nvPr/>
          </p:nvCxnSpPr>
          <p:spPr>
            <a:xfrm flipV="1">
              <a:off x="10837737" y="3905894"/>
              <a:ext cx="270165" cy="9527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0CA41467-DF82-3CE1-07FB-731B00615C6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745026" y="-146296"/>
              <a:ext cx="2286985" cy="4207712"/>
            </a:xfrm>
            <a:prstGeom prst="curvedConnector2">
              <a:avLst/>
            </a:prstGeom>
            <a:ln>
              <a:solidFill>
                <a:srgbClr val="C0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66B061F-C20A-48BF-978B-6D05A13176E7}"/>
                </a:ext>
              </a:extLst>
            </p:cNvPr>
            <p:cNvSpPr txBox="1"/>
            <p:nvPr/>
          </p:nvSpPr>
          <p:spPr>
            <a:xfrm>
              <a:off x="10886332" y="3538585"/>
              <a:ext cx="171101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Weighted Multi-Task Loss</a:t>
              </a:r>
              <a:endParaRPr lang="en-CN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8F0DB-2245-15B7-F11B-9AD8B34C9B60}"/>
                </a:ext>
              </a:extLst>
            </p:cNvPr>
            <p:cNvSpPr txBox="1"/>
            <p:nvPr/>
          </p:nvSpPr>
          <p:spPr>
            <a:xfrm>
              <a:off x="10955265" y="4815772"/>
              <a:ext cx="17110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During training</a:t>
              </a:r>
              <a:endParaRPr lang="en-CN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A0FBC7B-CA6F-F126-5983-76B96BF75117}"/>
                </a:ext>
              </a:extLst>
            </p:cNvPr>
            <p:cNvSpPr txBox="1"/>
            <p:nvPr/>
          </p:nvSpPr>
          <p:spPr>
            <a:xfrm rot="1477208">
              <a:off x="8141292" y="1065617"/>
              <a:ext cx="4050903" cy="1179744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>
                  <a:gd name="adj" fmla="val 9125520"/>
                </a:avLst>
              </a:prstTxWarp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Self-Consistent Iterative Inference</a:t>
              </a:r>
              <a:endParaRPr lang="en-CN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AEC7A49-471D-F341-4091-14CC4D4251C8}"/>
                    </a:ext>
                  </a:extLst>
                </p:cNvPr>
                <p:cNvSpPr txBox="1"/>
                <p:nvPr/>
              </p:nvSpPr>
              <p:spPr>
                <a:xfrm>
                  <a:off x="10391544" y="2971569"/>
                  <a:ext cx="452047" cy="286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N" i="1"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</m:acc>
                      </m:oMath>
                    </m:oMathPara>
                  </a14:m>
                  <a:endParaRPr lang="en-CN" dirty="0"/>
                </a:p>
              </p:txBody>
            </p:sp>
          </mc:Choice>
          <mc:Fallback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AEC7A49-471D-F341-4091-14CC4D425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1544" y="2971569"/>
                  <a:ext cx="452047" cy="286040"/>
                </a:xfrm>
                <a:prstGeom prst="rect">
                  <a:avLst/>
                </a:prstGeom>
                <a:blipFill>
                  <a:blip r:embed="rId5"/>
                  <a:stretch>
                    <a:fillRect l="-11111" t="-20833" r="-11111" b="-8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E6B0CB61-380A-B02B-6E28-6008C259662F}"/>
                    </a:ext>
                  </a:extLst>
                </p:cNvPr>
                <p:cNvSpPr txBox="1"/>
                <p:nvPr/>
              </p:nvSpPr>
              <p:spPr>
                <a:xfrm>
                  <a:off x="10374020" y="4714398"/>
                  <a:ext cx="448841" cy="286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ELG</m:t>
                            </m:r>
                          </m:e>
                        </m:acc>
                      </m:oMath>
                    </m:oMathPara>
                  </a14:m>
                  <a:endParaRPr lang="en-CN" dirty="0"/>
                </a:p>
              </p:txBody>
            </p:sp>
          </mc:Choice>
          <mc:Fallback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E6B0CB61-380A-B02B-6E28-6008C2596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020" y="4714398"/>
                  <a:ext cx="448841" cy="286040"/>
                </a:xfrm>
                <a:prstGeom prst="rect">
                  <a:avLst/>
                </a:prstGeom>
                <a:blipFill>
                  <a:blip r:embed="rId6"/>
                  <a:stretch>
                    <a:fillRect l="-10811" t="-21739" r="-10811" b="-869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906B361-5010-655D-71ED-248A8845421A}"/>
                </a:ext>
              </a:extLst>
            </p:cNvPr>
            <p:cNvSpPr txBox="1"/>
            <p:nvPr/>
          </p:nvSpPr>
          <p:spPr>
            <a:xfrm>
              <a:off x="7202536" y="1672458"/>
              <a:ext cx="22488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FEATURE FUSION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&amp; PREDICTION</a:t>
              </a:r>
              <a:endParaRPr lang="en-CN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C6F33CD-9130-B11F-1C6D-56A449E24C80}"/>
                </a:ext>
              </a:extLst>
            </p:cNvPr>
            <p:cNvSpPr txBox="1"/>
            <p:nvPr/>
          </p:nvSpPr>
          <p:spPr>
            <a:xfrm rot="16200000">
              <a:off x="-495630" y="3476206"/>
              <a:ext cx="12280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INPUTS</a:t>
              </a:r>
              <a:endParaRPr lang="en-CN" dirty="0"/>
            </a:p>
          </p:txBody>
        </p:sp>
        <p:cxnSp>
          <p:nvCxnSpPr>
            <p:cNvPr id="144" name="Elbow Connector 143">
              <a:extLst>
                <a:ext uri="{FF2B5EF4-FFF2-40B4-BE49-F238E27FC236}">
                  <a16:creationId xmlns:a16="http://schemas.microsoft.com/office/drawing/2014/main" id="{7A06AD98-D907-3610-5F7A-80D5064F6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9063" y="893608"/>
              <a:ext cx="1933373" cy="1276377"/>
            </a:xfrm>
            <a:prstGeom prst="bentConnector4">
              <a:avLst>
                <a:gd name="adj1" fmla="val -7094"/>
                <a:gd name="adj2" fmla="val 5096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49924AA-5793-2674-4AAD-BEE89C0683CC}"/>
                    </a:ext>
                  </a:extLst>
                </p:cNvPr>
                <p:cNvSpPr txBox="1"/>
                <p:nvPr/>
              </p:nvSpPr>
              <p:spPr>
                <a:xfrm>
                  <a:off x="3895010" y="3505085"/>
                  <a:ext cx="494751" cy="2346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comp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49924AA-5793-2674-4AAD-BEE89C068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010" y="3505085"/>
                  <a:ext cx="494751" cy="234616"/>
                </a:xfrm>
                <a:prstGeom prst="rect">
                  <a:avLst/>
                </a:prstGeom>
                <a:blipFill>
                  <a:blip r:embed="rId7"/>
                  <a:stretch>
                    <a:fillRect l="-7500" r="-5000" b="-15789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7CB48479-D9E2-56A0-2229-AB2041E89E55}"/>
                    </a:ext>
                  </a:extLst>
                </p:cNvPr>
                <p:cNvSpPr txBox="1"/>
                <p:nvPr/>
              </p:nvSpPr>
              <p:spPr>
                <a:xfrm>
                  <a:off x="3899105" y="4800447"/>
                  <a:ext cx="38574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test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7CB48479-D9E2-56A0-2229-AB2041E89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105" y="4800447"/>
                  <a:ext cx="385747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2903" r="-3226" b="-526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791E59D1-E846-EC9F-8A6D-F6B15F1B2771}"/>
                    </a:ext>
                  </a:extLst>
                </p:cNvPr>
                <p:cNvSpPr txBox="1"/>
                <p:nvPr/>
              </p:nvSpPr>
              <p:spPr>
                <a:xfrm>
                  <a:off x="3892225" y="2071484"/>
                  <a:ext cx="435440" cy="2346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proc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791E59D1-E846-EC9F-8A6D-F6B15F1B2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2225" y="2071484"/>
                  <a:ext cx="435440" cy="234616"/>
                </a:xfrm>
                <a:prstGeom prst="rect">
                  <a:avLst/>
                </a:prstGeom>
                <a:blipFill>
                  <a:blip r:embed="rId9"/>
                  <a:stretch>
                    <a:fillRect l="-11429" r="-5714" b="-15789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678F417-57B1-5428-28A8-75CE42B53140}"/>
                </a:ext>
              </a:extLst>
            </p:cNvPr>
            <p:cNvGrpSpPr/>
            <p:nvPr/>
          </p:nvGrpSpPr>
          <p:grpSpPr>
            <a:xfrm>
              <a:off x="161377" y="209098"/>
              <a:ext cx="7399276" cy="1236823"/>
              <a:chOff x="185844" y="202567"/>
              <a:chExt cx="7399276" cy="1236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88037836-CAE6-5078-2525-4A9E78404C2B}"/>
                      </a:ext>
                    </a:extLst>
                  </p:cNvPr>
                  <p:cNvSpPr txBox="1"/>
                  <p:nvPr/>
                </p:nvSpPr>
                <p:spPr>
                  <a:xfrm>
                    <a:off x="185844" y="202567"/>
                    <a:ext cx="3520045" cy="12003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TRAJECTORY</a:t>
                    </a:r>
                  </a:p>
                  <a:p>
                    <a:pPr algn="ctr"/>
                    <a:endPara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Experimental Trajectory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r>
                      <a: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：</a:t>
                    </a:r>
                    <a:endPara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≤⋯≤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88037836-CAE6-5078-2525-4A9E78404C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844" y="202567"/>
                    <a:ext cx="3520045" cy="120032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083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7" name="Rounded Rectangle 126">
                <a:extLst>
                  <a:ext uri="{FF2B5EF4-FFF2-40B4-BE49-F238E27FC236}">
                    <a16:creationId xmlns:a16="http://schemas.microsoft.com/office/drawing/2014/main" id="{2E9B11CC-FA59-432A-35A7-3AABD983182E}"/>
                  </a:ext>
                </a:extLst>
              </p:cNvPr>
              <p:cNvSpPr/>
              <p:nvPr/>
            </p:nvSpPr>
            <p:spPr>
              <a:xfrm>
                <a:off x="314247" y="218976"/>
                <a:ext cx="7270873" cy="1220414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A7E11E6D-33A0-BBCF-61C9-3894D6D74FB2}"/>
                  </a:ext>
                </a:extLst>
              </p:cNvPr>
              <p:cNvCxnSpPr/>
              <p:nvPr/>
            </p:nvCxnSpPr>
            <p:spPr>
              <a:xfrm>
                <a:off x="3462095" y="905882"/>
                <a:ext cx="487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Google Shape;3248;p52">
                <a:extLst>
                  <a:ext uri="{FF2B5EF4-FFF2-40B4-BE49-F238E27FC236}">
                    <a16:creationId xmlns:a16="http://schemas.microsoft.com/office/drawing/2014/main" id="{4EAD3532-4C47-4F73-5B9D-3B5B0D857C8B}"/>
                  </a:ext>
                </a:extLst>
              </p:cNvPr>
              <p:cNvSpPr/>
              <p:nvPr/>
            </p:nvSpPr>
            <p:spPr>
              <a:xfrm>
                <a:off x="4078414" y="343416"/>
                <a:ext cx="1919800" cy="936016"/>
              </a:xfrm>
              <a:prstGeom prst="roundRect">
                <a:avLst>
                  <a:gd name="adj" fmla="val 11095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4BD032E1-F894-7F44-2C07-BA297A9CD0C5}"/>
                      </a:ext>
                    </a:extLst>
                  </p:cNvPr>
                  <p:cNvSpPr txBox="1"/>
                  <p:nvPr/>
                </p:nvSpPr>
                <p:spPr>
                  <a:xfrm>
                    <a:off x="4096977" y="498119"/>
                    <a:ext cx="1919800" cy="66999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Trajectory State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4BD032E1-F894-7F44-2C07-BA297A9CD0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6977" y="498119"/>
                    <a:ext cx="1919800" cy="66999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3704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1C6077E0-F89B-2316-A2E4-844EADFD2D9A}"/>
                  </a:ext>
                </a:extLst>
              </p:cNvPr>
              <p:cNvCxnSpPr/>
              <p:nvPr/>
            </p:nvCxnSpPr>
            <p:spPr>
              <a:xfrm>
                <a:off x="6002292" y="851803"/>
                <a:ext cx="487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Trapezoid 134">
                <a:extLst>
                  <a:ext uri="{FF2B5EF4-FFF2-40B4-BE49-F238E27FC236}">
                    <a16:creationId xmlns:a16="http://schemas.microsoft.com/office/drawing/2014/main" id="{FEC3F76F-E552-6435-2BF0-EA90ED3EC897}"/>
                  </a:ext>
                </a:extLst>
              </p:cNvPr>
              <p:cNvSpPr/>
              <p:nvPr/>
            </p:nvSpPr>
            <p:spPr>
              <a:xfrm rot="5400000">
                <a:off x="6430568" y="439855"/>
                <a:ext cx="985837" cy="792961"/>
              </a:xfrm>
              <a:prstGeom prst="trapezoid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6503BFA-7CC1-46FB-F33B-3F391FBF5700}"/>
                  </a:ext>
                </a:extLst>
              </p:cNvPr>
              <p:cNvSpPr txBox="1"/>
              <p:nvPr/>
            </p:nvSpPr>
            <p:spPr>
              <a:xfrm>
                <a:off x="6369082" y="506018"/>
                <a:ext cx="113043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MLP</a:t>
                </a:r>
              </a:p>
              <a:p>
                <a:pPr algn="ctr"/>
                <a:r>
                  <a:rPr lang="en-CN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(state)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A4AA1909-3C49-8ED7-F8F5-07FF5C3F9CB4}"/>
                      </a:ext>
                    </a:extLst>
                  </p:cNvPr>
                  <p:cNvSpPr txBox="1"/>
                  <p:nvPr/>
                </p:nvSpPr>
                <p:spPr>
                  <a:xfrm>
                    <a:off x="6988087" y="1194661"/>
                    <a:ext cx="45788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state</m:t>
                              </m:r>
                            </m:sub>
                          </m:sSub>
                        </m:oMath>
                      </m:oMathPara>
                    </a14:m>
                    <a:endParaRPr lang="en-CN" sz="1400" dirty="0"/>
                  </a:p>
                </p:txBody>
              </p:sp>
            </mc:Choice>
            <mc:Fallback xmlns=""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A4AA1909-3C49-8ED7-F8F5-07FF5C3F9C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8087" y="1194661"/>
                    <a:ext cx="457882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811" r="-2703"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2DE8584-0A24-BE5D-8DCC-4FE41DFBFEEE}"/>
                </a:ext>
              </a:extLst>
            </p:cNvPr>
            <p:cNvSpPr txBox="1"/>
            <p:nvPr/>
          </p:nvSpPr>
          <p:spPr>
            <a:xfrm>
              <a:off x="6162970" y="3635268"/>
              <a:ext cx="97849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Gated Features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ACAE62A1-F9AB-1473-2B82-E47FEB6B1DBF}"/>
                    </a:ext>
                  </a:extLst>
                </p:cNvPr>
                <p:cNvSpPr txBox="1"/>
                <p:nvPr/>
              </p:nvSpPr>
              <p:spPr>
                <a:xfrm rot="5400000">
                  <a:off x="1999120" y="2184485"/>
                  <a:ext cx="5049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⋯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ACAE62A1-F9AB-1473-2B82-E47FEB6B1D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99120" y="2184485"/>
                  <a:ext cx="50499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7B472A8A-344B-4776-80BE-A43FF50E16F9}"/>
                    </a:ext>
                  </a:extLst>
                </p:cNvPr>
                <p:cNvSpPr txBox="1"/>
                <p:nvPr/>
              </p:nvSpPr>
              <p:spPr>
                <a:xfrm>
                  <a:off x="8884406" y="3926955"/>
                  <a:ext cx="49314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fused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7B472A8A-344B-4776-80BE-A43FF50E1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4406" y="3926955"/>
                  <a:ext cx="493148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7500" r="-2500" b="-11111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Google Shape;3248;p52">
              <a:extLst>
                <a:ext uri="{FF2B5EF4-FFF2-40B4-BE49-F238E27FC236}">
                  <a16:creationId xmlns:a16="http://schemas.microsoft.com/office/drawing/2014/main" id="{4E8F6B58-14DD-238A-672E-95BDEDCB4B55}"/>
                </a:ext>
              </a:extLst>
            </p:cNvPr>
            <p:cNvSpPr/>
            <p:nvPr/>
          </p:nvSpPr>
          <p:spPr>
            <a:xfrm>
              <a:off x="6397458" y="2371528"/>
              <a:ext cx="1711033" cy="985998"/>
            </a:xfrm>
            <a:prstGeom prst="roundRect">
              <a:avLst>
                <a:gd name="adj" fmla="val 1109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588ADAF6-938E-7D61-25FA-C1E09EFC81CE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8108491" y="2864527"/>
              <a:ext cx="625800" cy="1144707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99A881A-C59B-A02C-6492-A196C1E1B0B4}"/>
                </a:ext>
              </a:extLst>
            </p:cNvPr>
            <p:cNvSpPr txBox="1"/>
            <p:nvPr/>
          </p:nvSpPr>
          <p:spPr>
            <a:xfrm>
              <a:off x="6589216" y="2546668"/>
              <a:ext cx="13008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Residual</a:t>
              </a:r>
            </a:p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Adaptor</a:t>
              </a:r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70562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535</TotalTime>
  <Words>106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 Cao</dc:creator>
  <cp:lastModifiedBy>Bin Cao</cp:lastModifiedBy>
  <cp:revision>29</cp:revision>
  <dcterms:created xsi:type="dcterms:W3CDTF">2026-02-03T03:00:58Z</dcterms:created>
  <dcterms:modified xsi:type="dcterms:W3CDTF">2026-06-23T01:16:09Z</dcterms:modified>
</cp:coreProperties>
</file>